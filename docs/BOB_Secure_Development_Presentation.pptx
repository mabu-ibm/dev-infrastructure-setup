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IBM Bob: Secure Application Development at Scale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Automated Security, Accelerated Delivery</a:t>
            </a:r>
            <a:br/>
            <a:br/>
            <a:r>
              <a:rPr/>
              <a:t>IBM Bob AI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IBM Bob: Secure Application Development at Scale</a:t>
            </a:r>
          </a:p>
          <a:p>
            <a:pPr lvl="0" indent="0" marL="0">
              <a:buNone/>
            </a:pPr>
            <a:r>
              <a:rPr b="1"/>
              <a:t>Automated Security, Accelerated Delivery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Transform Your Development Workflow</a:t>
            </a:r>
          </a:p>
          <a:p>
            <a:pPr lvl="0"/>
            <a:r>
              <a:rPr/>
              <a:t>From 30+ minutes to 3 minutes</a:t>
            </a:r>
          </a:p>
          <a:p>
            <a:pPr lvl="0"/>
            <a:r>
              <a:rPr/>
              <a:t>From manual to fully automated</a:t>
            </a:r>
          </a:p>
          <a:p>
            <a:pPr lvl="0"/>
            <a:r>
              <a:rPr/>
              <a:t>From basic to enterprise-grade security</a:t>
            </a:r>
          </a:p>
          <a:p>
            <a:pPr lvl="0" indent="0" marL="0">
              <a:buNone/>
            </a:pPr>
            <a:r>
              <a:rPr b="1"/>
              <a:t>IBM Bob AI</a:t>
            </a:r>
            <a:br/>
            <a:r>
              <a:rPr/>
              <a:t>March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Application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Manual, Time-Consuming, Error-Prone</a:t>
            </a:r>
          </a:p>
          <a:p>
            <a:pPr lvl="0" indent="0" marL="0">
              <a:buNone/>
            </a:pPr>
            <a:r>
              <a:rPr b="1"/>
              <a:t>Typical Developer Workflow:</a:t>
            </a:r>
            <a:r>
              <a:rPr/>
              <a:t> 1. ❌ Create repository manually (5 min) 2. ❌ Setup project structure (10 min) 3. ❌ Configure CI/CD pipeline (15 min) 4. ❌ Add security configurations (20 min) 5. ❌ Deploy to Kubernetes (15 min) 6. ❌ Verify security settings (10 min)</a:t>
            </a:r>
          </a:p>
          <a:p>
            <a:pPr lvl="0" indent="0" marL="0">
              <a:buNone/>
            </a:pPr>
            <a:r>
              <a:rPr b="1"/>
              <a:t>Total Time:</a:t>
            </a:r>
            <a:r>
              <a:rPr/>
              <a:t> 75+ minutes per application</a:t>
            </a:r>
            <a:br/>
            <a:r>
              <a:rPr b="1"/>
              <a:t>Error Rate:</a:t>
            </a:r>
            <a:r>
              <a:rPr/>
              <a:t> High (manual steps)</a:t>
            </a:r>
            <a:br/>
            <a:r>
              <a:rPr b="1"/>
              <a:t>Security:</a:t>
            </a:r>
            <a:r>
              <a:rPr/>
              <a:t> Often forgotten or incomplete</a:t>
            </a:r>
            <a:br/>
            <a:r>
              <a:rPr b="1"/>
              <a:t>Consistency:</a:t>
            </a:r>
            <a:r>
              <a:rPr/>
              <a:t> Varies by developer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The IBM Bob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Automated Secure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One Command, Complete Deployment</a:t>
            </a:r>
          </a:p>
          <a:p>
            <a:pPr lvl="0" indent="0">
              <a:buNone/>
            </a:pPr>
            <a:r>
              <a:rPr>
                <a:latin typeface="Courier"/>
              </a:rPr>
              <a:t>./bob-skill/deploy-secure-app.sh my-app python</a:t>
            </a:r>
          </a:p>
          <a:p>
            <a:pPr lvl="0" indent="0" marL="0">
              <a:buNone/>
            </a:pPr>
            <a:r>
              <a:rPr b="1"/>
              <a:t>What Bob Does Automatically:</a:t>
            </a:r>
            <a:r>
              <a:rPr/>
              <a:t> 1. ✅ Creates Gitea repository (30 sec) 2. ✅ Generates secure application (30 sec) 3. ✅ Configures CI/CD pipeline (30 sec) 4. ✅ Implements enterprise security (30 sec) 5. ✅ Deploys to Kubernetes (90 sec) 6. ✅ Verifies security configuration (30 sec)</a:t>
            </a:r>
          </a:p>
          <a:p>
            <a:pPr lvl="0" indent="0" marL="0">
              <a:buNone/>
            </a:pPr>
            <a:r>
              <a:rPr b="1"/>
              <a:t>Total Time:</a:t>
            </a:r>
            <a:r>
              <a:rPr/>
              <a:t> 3-5 minutes</a:t>
            </a:r>
            <a:br/>
            <a:r>
              <a:rPr b="1"/>
              <a:t>Error Rate:</a:t>
            </a:r>
            <a:r>
              <a:rPr/>
              <a:t> Zero (automated)</a:t>
            </a:r>
            <a:br/>
            <a:r>
              <a:rPr b="1"/>
              <a:t>Security:</a:t>
            </a:r>
            <a:r>
              <a:rPr/>
              <a:t> Enterprise-grade by default</a:t>
            </a:r>
            <a:br/>
            <a:r>
              <a:rPr b="1"/>
              <a:t>Consistency:</a:t>
            </a:r>
            <a:r>
              <a:rPr/>
              <a:t> 100% identical deployments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Customer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IBM Bob?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Speed</a:t>
            </a:r>
          </a:p>
          <a:p>
            <a:pPr lvl="0"/>
            <a:r>
              <a:rPr b="1"/>
              <a:t>95% faster</a:t>
            </a:r>
            <a:r>
              <a:rPr/>
              <a:t> deployment (75 min → 3 min)</a:t>
            </a:r>
          </a:p>
          <a:p>
            <a:pPr lvl="0"/>
            <a:r>
              <a:rPr b="1"/>
              <a:t>Zero manual steps</a:t>
            </a:r>
            <a:r>
              <a:rPr/>
              <a:t> required</a:t>
            </a:r>
          </a:p>
          <a:p>
            <a:pPr lvl="0"/>
            <a:r>
              <a:rPr b="1"/>
              <a:t>Instant productivity</a:t>
            </a:r>
            <a:r>
              <a:rPr/>
              <a:t> for new developers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🔒 Security</a:t>
            </a:r>
          </a:p>
          <a:p>
            <a:pPr lvl="0"/>
            <a:r>
              <a:rPr b="1"/>
              <a:t>Enterprise-grade</a:t>
            </a:r>
            <a:r>
              <a:rPr/>
              <a:t> security by default</a:t>
            </a:r>
          </a:p>
          <a:p>
            <a:pPr lvl="0"/>
            <a:r>
              <a:rPr b="1"/>
              <a:t>Automated vulnerability</a:t>
            </a:r>
            <a:r>
              <a:rPr/>
              <a:t> scanning</a:t>
            </a:r>
          </a:p>
          <a:p>
            <a:pPr lvl="0"/>
            <a:r>
              <a:rPr b="1"/>
              <a:t>Compliance-ready</a:t>
            </a:r>
            <a:r>
              <a:rPr/>
              <a:t> deployments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💰 Cost Savings</a:t>
            </a:r>
          </a:p>
          <a:p>
            <a:pPr lvl="0"/>
            <a:r>
              <a:rPr b="1"/>
              <a:t>$150/hour</a:t>
            </a:r>
            <a:r>
              <a:rPr/>
              <a:t> developer time saved</a:t>
            </a:r>
          </a:p>
          <a:p>
            <a:pPr lvl="0"/>
            <a:r>
              <a:rPr b="1"/>
              <a:t>$187.50 saved</a:t>
            </a:r>
            <a:r>
              <a:rPr/>
              <a:t> per deployment</a:t>
            </a:r>
          </a:p>
          <a:p>
            <a:pPr lvl="0"/>
            <a:r>
              <a:rPr b="1"/>
              <a:t>$37,500/month</a:t>
            </a:r>
            <a:r>
              <a:rPr/>
              <a:t> for 200 deployments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Quality</a:t>
            </a:r>
          </a:p>
          <a:p>
            <a:pPr lvl="0"/>
            <a:r>
              <a:rPr b="1"/>
              <a:t>Zero human errors</a:t>
            </a:r>
          </a:p>
          <a:p>
            <a:pPr lvl="0"/>
            <a:r>
              <a:rPr b="1"/>
              <a:t>100% consistent</a:t>
            </a:r>
            <a:r>
              <a:rPr/>
              <a:t> deployments</a:t>
            </a:r>
          </a:p>
          <a:p>
            <a:pPr lvl="0"/>
            <a:r>
              <a:rPr b="1"/>
              <a:t>Automated verification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Complete CI/CD Infrastructure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┌─────────────────────────────────────────────────────────┐
│                  Developer Workstation                   │
│                                                          │
│  IBM Bob Skill: deploy-secure-app.sh                    │
│         ↓                                                │
└─────────┼────────────────────────────────────────────────┘
          │
          ▼
┌─────────────────────────────────────────────────────────┐
│                   almabuild (Build Host)                 │
│  ┌──────────────┐  ┌──────────────┐  ┌──────────────┐  │
│  │    Gitea     │  │    Docker    │  │ Gitea Runner │  │
│  │  + Registry  │  │              │  │   + kubectl  │  │
│  └──────────────┘  └──────────────┘  └──────────────┘  │
└─────────────────────────┬───────────────────────────────┘
                          │
                          ▼
┌─────────────────────────────────────────────────────────┐
│                   almak3s (K3s Host)                     │
│  ┌──────────────────────────────────────────────────┐   │
│  │              Secure Application                   │   │
│  │  ┌────────────┐  ┌────────────┐  ┌────────────┐ │   │
│  │  │   Pod 1    │  │   Pod 2    │  │  Service   │ │   │
│  │  │  Secure    │  │  Secure    │  │ NodePort   │ │   │
│  │  └────────────┘  └────────────┘  └────────────┘ │   │
│  └──────────────────────────────────────────────────┘   │
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Automated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Push → Build → Deploy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Fully Automated Pipeline</a:t>
            </a:r>
          </a:p>
          <a:p>
            <a:pPr lvl="0" indent="0">
              <a:buNone/>
            </a:pPr>
            <a:r>
              <a:rPr>
                <a:latin typeface="Courier"/>
              </a:rPr>
              <a:t>Developer Command
    ↓
Bob Skill Execution (30 sec)
    ├─ Create Repository
    ├─ Generate Secure App
    └─ Push to Gitea
    ↓
CI/CD Pipeline Triggered (3-5 min)
    ├─ Job 1: Test Application
    ├─ Job 2: Build Secure Image + Scan
    └─ Job 3: Deploy with Security
    ↓
Application Running Securely
    ├─ 2 Pods (High Availability)
    ├─ Network Isolation
    └─ Security Verified</a:t>
            </a:r>
          </a:p>
          <a:p>
            <a:pPr lvl="0" indent="0" marL="0">
              <a:buNone/>
            </a:pPr>
            <a:r>
              <a:rPr b="1"/>
              <a:t>Total Time:</a:t>
            </a:r>
            <a:r>
              <a:rPr/>
              <a:t> 3-5 minutes</a:t>
            </a:r>
            <a:br/>
            <a:r>
              <a:rPr b="1"/>
              <a:t>Manual Intervention:</a:t>
            </a:r>
            <a:r>
              <a:rPr/>
              <a:t> Zero</a:t>
            </a:r>
            <a:br/>
            <a:r>
              <a:rPr b="1"/>
              <a:t>Security Checks:</a:t>
            </a:r>
            <a:r>
              <a:rPr/>
              <a:t> Automated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Enterprise-Grade Security by Default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Container Security</a:t>
            </a:r>
          </a:p>
          <a:p>
            <a:pPr lvl="0"/>
            <a:r>
              <a:rPr/>
              <a:t>✅ </a:t>
            </a:r>
            <a:r>
              <a:rPr b="1"/>
              <a:t>Hardened base images</a:t>
            </a:r>
            <a:r>
              <a:rPr/>
              <a:t> with security updates</a:t>
            </a:r>
          </a:p>
          <a:p>
            <a:pPr lvl="0"/>
            <a:r>
              <a:rPr/>
              <a:t>✅ </a:t>
            </a:r>
            <a:r>
              <a:rPr b="1"/>
              <a:t>Non-root user</a:t>
            </a:r>
            <a:r>
              <a:rPr/>
              <a:t> execution (UID 1000)</a:t>
            </a:r>
          </a:p>
          <a:p>
            <a:pPr lvl="0"/>
            <a:r>
              <a:rPr/>
              <a:t>✅ </a:t>
            </a:r>
            <a:r>
              <a:rPr b="1"/>
              <a:t>Read-only filesystem</a:t>
            </a:r>
            <a:r>
              <a:rPr/>
              <a:t> prevents tampering</a:t>
            </a:r>
          </a:p>
          <a:p>
            <a:pPr lvl="0"/>
            <a:r>
              <a:rPr/>
              <a:t>✅ </a:t>
            </a:r>
            <a:r>
              <a:rPr b="1"/>
              <a:t>Minimal attack surface</a:t>
            </a:r>
            <a:r>
              <a:rPr/>
              <a:t> (only essential packages)</a:t>
            </a:r>
          </a:p>
          <a:p>
            <a:pPr lvl="0"/>
            <a:r>
              <a:rPr/>
              <a:t>✅ </a:t>
            </a:r>
            <a:r>
              <a:rPr b="1"/>
              <a:t>Vulnerability scanning</a:t>
            </a:r>
            <a:r>
              <a:rPr/>
              <a:t> with Trivy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Kubernetes Security</a:t>
            </a:r>
          </a:p>
          <a:p>
            <a:pPr lvl="0"/>
            <a:r>
              <a:rPr/>
              <a:t>✅ </a:t>
            </a:r>
            <a:r>
              <a:rPr b="1"/>
              <a:t>Pod security contexts</a:t>
            </a:r>
            <a:r>
              <a:rPr/>
              <a:t> (runAsNonRoot)</a:t>
            </a:r>
          </a:p>
          <a:p>
            <a:pPr lvl="0"/>
            <a:r>
              <a:rPr/>
              <a:t>✅ </a:t>
            </a:r>
            <a:r>
              <a:rPr b="1"/>
              <a:t>Dropped ALL capabilities</a:t>
            </a:r>
            <a:r>
              <a:rPr/>
              <a:t> (least privilege)</a:t>
            </a:r>
          </a:p>
          <a:p>
            <a:pPr lvl="0"/>
            <a:r>
              <a:rPr/>
              <a:t>✅ </a:t>
            </a:r>
            <a:r>
              <a:rPr b="1"/>
              <a:t>Network policies</a:t>
            </a:r>
            <a:r>
              <a:rPr/>
              <a:t> (ingress/egress control)</a:t>
            </a:r>
          </a:p>
          <a:p>
            <a:pPr lvl="0"/>
            <a:r>
              <a:rPr/>
              <a:t>✅ </a:t>
            </a:r>
            <a:r>
              <a:rPr b="1"/>
              <a:t>Resource limits</a:t>
            </a:r>
            <a:r>
              <a:rPr/>
              <a:t> (prevent resource exhaustion)</a:t>
            </a:r>
          </a:p>
          <a:p>
            <a:pPr lvl="0"/>
            <a:r>
              <a:rPr/>
              <a:t>✅ </a:t>
            </a:r>
            <a:r>
              <a:rPr b="1"/>
              <a:t>Service accounts</a:t>
            </a:r>
            <a:r>
              <a:rPr/>
              <a:t> (dedicated, no auto-mount)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Pipeline Security</a:t>
            </a:r>
          </a:p>
          <a:p>
            <a:pPr lvl="0"/>
            <a:r>
              <a:rPr/>
              <a:t>✅ </a:t>
            </a:r>
            <a:r>
              <a:rPr b="1"/>
              <a:t>Automated security verification</a:t>
            </a:r>
          </a:p>
          <a:p>
            <a:pPr lvl="0"/>
            <a:r>
              <a:rPr/>
              <a:t>✅ </a:t>
            </a:r>
            <a:r>
              <a:rPr b="1"/>
              <a:t>Security context validation</a:t>
            </a:r>
          </a:p>
          <a:p>
            <a:pPr lvl="0"/>
            <a:r>
              <a:rPr/>
              <a:t>✅ </a:t>
            </a:r>
            <a:r>
              <a:rPr b="1"/>
              <a:t>Complete audit trail</a:t>
            </a:r>
          </a:p>
          <a:p>
            <a:pPr lvl="0" indent="0" marL="0">
              <a:buNone/>
            </a:pPr>
            <a:r>
              <a:rPr b="1"/>
              <a:t>Security Score:</a:t>
            </a:r>
            <a:r>
              <a:rPr/>
              <a:t> 9/10 (Enterprise-Grade)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8: Cost-Benefit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ROI Calculation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Manual Approach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 @ $150/hr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Repository setup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$12.50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$25.00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 configuration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$37.50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setup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$37.50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$25.00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$187.50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IBM Bob Automated Approach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 @ $150/hr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Bob skill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Wait for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$2.50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Savings Per Deployment</a:t>
            </a:r>
          </a:p>
          <a:p>
            <a:pPr lvl="0"/>
            <a:r>
              <a:rPr b="1"/>
              <a:t>Time Saved:</a:t>
            </a:r>
            <a:r>
              <a:rPr/>
              <a:t> 70 minutes (93%)</a:t>
            </a:r>
          </a:p>
          <a:p>
            <a:pPr lvl="0"/>
            <a:r>
              <a:rPr b="1"/>
              <a:t>Cost Saved:</a:t>
            </a:r>
            <a:r>
              <a:rPr/>
              <a:t> $185.00 (99%)</a:t>
            </a:r>
          </a:p>
          <a:p>
            <a:pPr lvl="0"/>
            <a:r>
              <a:rPr b="1"/>
              <a:t>Error Reduction:</a:t>
            </a:r>
            <a:r>
              <a:rPr/>
              <a:t> 100%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9: Scale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Enterprise-Wide Savings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Monthly Deployment Scenarios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Deployments/Month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Bob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Savings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$9,375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$9,250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$18,750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$18,500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$37,500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$37,000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$93,750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$1,250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$92,500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Annual Savings (200 deployments/month)</a:t>
            </a:r>
          </a:p>
          <a:p>
            <a:pPr lvl="0"/>
            <a:r>
              <a:rPr b="1"/>
              <a:t>Time Saved:</a:t>
            </a:r>
            <a:r>
              <a:rPr/>
              <a:t> 14,000 hours/year</a:t>
            </a:r>
          </a:p>
          <a:p>
            <a:pPr lvl="0"/>
            <a:r>
              <a:rPr b="1"/>
              <a:t>Cost Saved:</a:t>
            </a:r>
            <a:r>
              <a:rPr/>
              <a:t> $444,000/year</a:t>
            </a:r>
          </a:p>
          <a:p>
            <a:pPr lvl="0"/>
            <a:r>
              <a:rPr b="1"/>
              <a:t>Productivity Gain:</a:t>
            </a:r>
            <a:r>
              <a:rPr/>
              <a:t> 23 FTE equivalents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Benefits</a:t>
            </a:r>
          </a:p>
          <a:p>
            <a:pPr lvl="0"/>
            <a:r>
              <a:rPr/>
              <a:t>✅ Zero security incidents from misconfiguration</a:t>
            </a:r>
          </a:p>
          <a:p>
            <a:pPr lvl="0"/>
            <a:r>
              <a:rPr/>
              <a:t>✅ 100% compliance with security standards</a:t>
            </a:r>
          </a:p>
          <a:p>
            <a:pPr lvl="0"/>
            <a:r>
              <a:rPr/>
              <a:t>✅ Faster time-to-market</a:t>
            </a:r>
          </a:p>
          <a:p>
            <a:pPr lvl="0"/>
            <a:r>
              <a:rPr/>
              <a:t>✅ Improved developer satisfaction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Applications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Microservices Development</a:t>
            </a:r>
          </a:p>
          <a:p>
            <a:pPr lvl="0" indent="0" marL="0">
              <a:buNone/>
            </a:pPr>
            <a:r>
              <a:rPr b="1"/>
              <a:t>Challenge:</a:t>
            </a:r>
            <a:r>
              <a:rPr/>
              <a:t> Deploy 50+ microservices consistently</a:t>
            </a:r>
            <a:br/>
            <a:r>
              <a:rPr b="1"/>
              <a:t>Solution:</a:t>
            </a:r>
            <a:r>
              <a:rPr/>
              <a:t> Bob deploys each in 3 minutes with identical security</a:t>
            </a:r>
            <a:br/>
            <a:r>
              <a:rPr b="1"/>
              <a:t>Result:</a:t>
            </a:r>
            <a:r>
              <a:rPr/>
              <a:t> 50 services deployed in 2.5 hours vs 62.5 hours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Multi-Environment Deployments</a:t>
            </a:r>
          </a:p>
          <a:p>
            <a:pPr lvl="0" indent="0" marL="0">
              <a:buNone/>
            </a:pPr>
            <a:r>
              <a:rPr b="1"/>
              <a:t>Challenge:</a:t>
            </a:r>
            <a:r>
              <a:rPr/>
              <a:t> Deploy to dev, test, staging, prod</a:t>
            </a:r>
            <a:br/>
            <a:r>
              <a:rPr b="1"/>
              <a:t>Solution:</a:t>
            </a:r>
            <a:r>
              <a:rPr/>
              <a:t> Bob ensures consistent security across all environments</a:t>
            </a:r>
            <a:br/>
            <a:r>
              <a:rPr b="1"/>
              <a:t>Result:</a:t>
            </a:r>
            <a:r>
              <a:rPr/>
              <a:t> 4x faster, zero configuration drift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New Developer Onboarding</a:t>
            </a:r>
          </a:p>
          <a:p>
            <a:pPr lvl="0" indent="0" marL="0">
              <a:buNone/>
            </a:pPr>
            <a:r>
              <a:rPr b="1"/>
              <a:t>Challenge:</a:t>
            </a:r>
            <a:r>
              <a:rPr/>
              <a:t> New developers need 2 weeks to learn deployment</a:t>
            </a:r>
            <a:br/>
            <a:r>
              <a:rPr b="1"/>
              <a:t>Solution:</a:t>
            </a:r>
            <a:r>
              <a:rPr/>
              <a:t> Bob enables immediate productivity</a:t>
            </a:r>
            <a:br/>
            <a:r>
              <a:rPr b="1"/>
              <a:t>Result:</a:t>
            </a:r>
            <a:r>
              <a:rPr/>
              <a:t> Deploy first app on day 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Compliance &amp; Audit</a:t>
            </a:r>
          </a:p>
          <a:p>
            <a:pPr lvl="0" indent="0" marL="0">
              <a:buNone/>
            </a:pPr>
            <a:r>
              <a:rPr b="1"/>
              <a:t>Challenge:</a:t>
            </a:r>
            <a:r>
              <a:rPr/>
              <a:t> Prove security compliance for 100+ apps</a:t>
            </a:r>
            <a:br/>
            <a:r>
              <a:rPr b="1"/>
              <a:t>Solution:</a:t>
            </a:r>
            <a:r>
              <a:rPr/>
              <a:t> Bob provides automated security verification</a:t>
            </a:r>
            <a:br/>
            <a:r>
              <a:rPr b="1"/>
              <a:t>Result:</a:t>
            </a:r>
            <a:r>
              <a:rPr/>
              <a:t> Instant compliance reports, zero audit findings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Technical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Bob Automates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Repository Management</a:t>
            </a:r>
          </a:p>
          <a:p>
            <a:pPr lvl="0"/>
            <a:r>
              <a:rPr/>
              <a:t>✅ Create Gitea repositories via API</a:t>
            </a:r>
          </a:p>
          <a:p>
            <a:pPr lvl="0"/>
            <a:r>
              <a:rPr/>
              <a:t>✅ Configure repository settings</a:t>
            </a:r>
          </a:p>
          <a:p>
            <a:pPr lvl="0"/>
            <a:r>
              <a:rPr/>
              <a:t>✅ Setup branch protection</a:t>
            </a:r>
          </a:p>
          <a:p>
            <a:pPr lvl="0"/>
            <a:r>
              <a:rPr/>
              <a:t>✅ Add repository secrets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 Generation</a:t>
            </a:r>
          </a:p>
          <a:p>
            <a:pPr lvl="0"/>
            <a:r>
              <a:rPr/>
              <a:t>✅ Template-based app creation</a:t>
            </a:r>
          </a:p>
          <a:p>
            <a:pPr lvl="0"/>
            <a:r>
              <a:rPr/>
              <a:t>✅ Customization with app name</a:t>
            </a:r>
          </a:p>
          <a:p>
            <a:pPr lvl="0"/>
            <a:r>
              <a:rPr/>
              <a:t>✅ Security configurations</a:t>
            </a:r>
          </a:p>
          <a:p>
            <a:pPr lvl="0"/>
            <a:r>
              <a:rPr/>
              <a:t>✅ CI/CD pipeline setup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CI/CD Pipeline</a:t>
            </a:r>
          </a:p>
          <a:p>
            <a:pPr lvl="0"/>
            <a:r>
              <a:rPr/>
              <a:t>✅ Automated testing</a:t>
            </a:r>
          </a:p>
          <a:p>
            <a:pPr lvl="0"/>
            <a:r>
              <a:rPr/>
              <a:t>✅ Secure image building</a:t>
            </a:r>
          </a:p>
          <a:p>
            <a:pPr lvl="0"/>
            <a:r>
              <a:rPr/>
              <a:t>✅ Vulnerability scanning</a:t>
            </a:r>
          </a:p>
          <a:p>
            <a:pPr lvl="0"/>
            <a:r>
              <a:rPr/>
              <a:t>✅ Kubernetes deployment</a:t>
            </a:r>
          </a:p>
          <a:p>
            <a:pPr lvl="0"/>
            <a:r>
              <a:rPr/>
              <a:t>✅ Security verification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Implementation</a:t>
            </a:r>
          </a:p>
          <a:p>
            <a:pPr lvl="0"/>
            <a:r>
              <a:rPr/>
              <a:t>✅ Container hardening</a:t>
            </a:r>
          </a:p>
          <a:p>
            <a:pPr lvl="0"/>
            <a:r>
              <a:rPr/>
              <a:t>✅ Kubernetes security contexts</a:t>
            </a:r>
          </a:p>
          <a:p>
            <a:pPr lvl="0"/>
            <a:r>
              <a:rPr/>
              <a:t>✅ Network policies</a:t>
            </a:r>
          </a:p>
          <a:p>
            <a:pPr lvl="0"/>
            <a:r>
              <a:rPr/>
              <a:t>✅ Resource limits</a:t>
            </a:r>
          </a:p>
          <a:p>
            <a:pPr lvl="0"/>
            <a:r>
              <a:rPr/>
              <a:t>✅ Health probes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12: Comparison Matrix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Bob vs Traditional Approaches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IBM Bob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Setup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Enterprise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Consistency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Zero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Learning Curve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Flat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Automated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Cost/Deploy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$187.50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$75.00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$112.50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$2.50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Bob Advantages</a:t>
            </a:r>
          </a:p>
          <a:p>
            <a:pPr lvl="0"/>
            <a:r>
              <a:rPr/>
              <a:t>✅ </a:t>
            </a:r>
            <a:r>
              <a:rPr b="1"/>
              <a:t>Fastest</a:t>
            </a:r>
            <a:r>
              <a:rPr/>
              <a:t> deployment (3 min)</a:t>
            </a:r>
          </a:p>
          <a:p>
            <a:pPr lvl="0"/>
            <a:r>
              <a:rPr/>
              <a:t>✅ </a:t>
            </a:r>
            <a:r>
              <a:rPr b="1"/>
              <a:t>Highest</a:t>
            </a:r>
            <a:r>
              <a:rPr/>
              <a:t> security (enterprise-grade)</a:t>
            </a:r>
          </a:p>
          <a:p>
            <a:pPr lvl="0"/>
            <a:r>
              <a:rPr/>
              <a:t>✅ </a:t>
            </a:r>
            <a:r>
              <a:rPr b="1"/>
              <a:t>Lowest</a:t>
            </a:r>
            <a:r>
              <a:rPr/>
              <a:t> cost ($2.50)</a:t>
            </a:r>
          </a:p>
          <a:p>
            <a:pPr lvl="0"/>
            <a:r>
              <a:rPr/>
              <a:t>✅ </a:t>
            </a:r>
            <a:r>
              <a:rPr b="1"/>
              <a:t>Zero</a:t>
            </a:r>
            <a:r>
              <a:rPr/>
              <a:t> errors (automated)</a:t>
            </a:r>
          </a:p>
          <a:p>
            <a:pPr lvl="0"/>
            <a:r>
              <a:rPr/>
              <a:t>✅ </a:t>
            </a:r>
            <a:r>
              <a:rPr b="1"/>
              <a:t>Easiest</a:t>
            </a:r>
            <a:r>
              <a:rPr/>
              <a:t> to use (one command)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Customer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Measurable Business Impact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Development Velocity</a:t>
            </a:r>
          </a:p>
          <a:p>
            <a:pPr lvl="0"/>
            <a:r>
              <a:rPr b="1"/>
              <a:t>93% faster</a:t>
            </a:r>
            <a:r>
              <a:rPr/>
              <a:t> deployments</a:t>
            </a:r>
          </a:p>
          <a:p>
            <a:pPr lvl="0"/>
            <a:r>
              <a:rPr b="1"/>
              <a:t>10x more</a:t>
            </a:r>
            <a:r>
              <a:rPr/>
              <a:t> deployments per sprint</a:t>
            </a:r>
          </a:p>
          <a:p>
            <a:pPr lvl="0"/>
            <a:r>
              <a:rPr b="1"/>
              <a:t>50% reduction</a:t>
            </a:r>
            <a:r>
              <a:rPr/>
              <a:t> in deployment-related incidents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Posture</a:t>
            </a:r>
          </a:p>
          <a:p>
            <a:pPr lvl="0"/>
            <a:r>
              <a:rPr b="1"/>
              <a:t>100% compliance</a:t>
            </a:r>
            <a:r>
              <a:rPr/>
              <a:t> with security standards</a:t>
            </a:r>
          </a:p>
          <a:p>
            <a:pPr lvl="0"/>
            <a:r>
              <a:rPr b="1"/>
              <a:t>Zero</a:t>
            </a:r>
            <a:r>
              <a:rPr/>
              <a:t> security misconfigurations</a:t>
            </a:r>
          </a:p>
          <a:p>
            <a:pPr lvl="0"/>
            <a:r>
              <a:rPr b="1"/>
              <a:t>Automated</a:t>
            </a:r>
            <a:r>
              <a:rPr/>
              <a:t> vulnerability scanning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Cost Efficiency</a:t>
            </a:r>
          </a:p>
          <a:p>
            <a:pPr lvl="0"/>
            <a:r>
              <a:rPr b="1"/>
              <a:t>$444,000/year</a:t>
            </a:r>
            <a:r>
              <a:rPr/>
              <a:t> saved (200 deployments/month)</a:t>
            </a:r>
          </a:p>
          <a:p>
            <a:pPr lvl="0"/>
            <a:r>
              <a:rPr b="1"/>
              <a:t>99% reduction</a:t>
            </a:r>
            <a:r>
              <a:rPr/>
              <a:t> in deployment costs</a:t>
            </a:r>
          </a:p>
          <a:p>
            <a:pPr lvl="0"/>
            <a:r>
              <a:rPr b="1"/>
              <a:t>23 FTE</a:t>
            </a:r>
            <a:r>
              <a:rPr/>
              <a:t> productivity gain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Developer Experience</a:t>
            </a:r>
          </a:p>
          <a:p>
            <a:pPr lvl="0"/>
            <a:r>
              <a:rPr b="1"/>
              <a:t>Day 1 productivity</a:t>
            </a:r>
            <a:r>
              <a:rPr/>
              <a:t> for new developers</a:t>
            </a:r>
          </a:p>
          <a:p>
            <a:pPr lvl="0"/>
            <a:r>
              <a:rPr b="1"/>
              <a:t>Zero training</a:t>
            </a:r>
            <a:r>
              <a:rPr/>
              <a:t> required</a:t>
            </a:r>
          </a:p>
          <a:p>
            <a:pPr lvl="0"/>
            <a:r>
              <a:rPr b="1"/>
              <a:t>100% satisfaction</a:t>
            </a:r>
            <a:r>
              <a:rPr/>
              <a:t> with deployment process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Quality Metrics</a:t>
            </a:r>
          </a:p>
          <a:p>
            <a:pPr lvl="0"/>
            <a:r>
              <a:rPr b="1"/>
              <a:t>Zero</a:t>
            </a:r>
            <a:r>
              <a:rPr/>
              <a:t> deployment errors</a:t>
            </a:r>
          </a:p>
          <a:p>
            <a:pPr lvl="0"/>
            <a:r>
              <a:rPr b="1"/>
              <a:t>100%</a:t>
            </a:r>
            <a:r>
              <a:rPr/>
              <a:t> consistent configurations</a:t>
            </a:r>
          </a:p>
          <a:p>
            <a:pPr lvl="0"/>
            <a:r>
              <a:rPr b="1"/>
              <a:t>Automated</a:t>
            </a:r>
            <a:r>
              <a:rPr/>
              <a:t> verification and testing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Implementation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Getting Started with Bob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1: Infrastructure Setup (1 day)</a:t>
            </a:r>
          </a:p>
          <a:p>
            <a:pPr lvl="0" indent="-342900" marL="342900">
              <a:buAutoNum type="arabicPeriod"/>
            </a:pPr>
            <a:r>
              <a:rPr/>
              <a:t>Setup almabuild host (Docker + Gitea)</a:t>
            </a:r>
          </a:p>
          <a:p>
            <a:pPr lvl="0" indent="-342900" marL="342900">
              <a:buAutoNum type="arabicPeriod"/>
            </a:pPr>
            <a:r>
              <a:rPr/>
              <a:t>Setup almak3s host (K3s)</a:t>
            </a:r>
          </a:p>
          <a:p>
            <a:pPr lvl="0" indent="-342900" marL="342900">
              <a:buAutoNum type="arabicPeriod"/>
            </a:pPr>
            <a:r>
              <a:rPr/>
              <a:t>Configure networking</a:t>
            </a:r>
          </a:p>
          <a:p>
            <a:pPr lvl="0" indent="-342900" marL="342900">
              <a:buAutoNum type="arabicPeriod"/>
            </a:pPr>
            <a:r>
              <a:rPr/>
              <a:t>Install Bob skill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2: Pilot Project (1 week)</a:t>
            </a:r>
          </a:p>
          <a:p>
            <a:pPr lvl="0" indent="-342900" marL="342900">
              <a:buAutoNum type="arabicPeriod"/>
            </a:pPr>
            <a:r>
              <a:rPr/>
              <a:t>Deploy 5 test applications</a:t>
            </a:r>
          </a:p>
          <a:p>
            <a:pPr lvl="0" indent="-342900" marL="342900">
              <a:buAutoNum type="arabicPeriod"/>
            </a:pPr>
            <a:r>
              <a:rPr/>
              <a:t>Validate security configurations</a:t>
            </a:r>
          </a:p>
          <a:p>
            <a:pPr lvl="0" indent="-342900" marL="342900">
              <a:buAutoNum type="arabicPeriod"/>
            </a:pPr>
            <a:r>
              <a:rPr/>
              <a:t>Train development team</a:t>
            </a:r>
          </a:p>
          <a:p>
            <a:pPr lvl="0" indent="-342900" marL="342900">
              <a:buAutoNum type="arabicPeriod"/>
            </a:pPr>
            <a:r>
              <a:rPr/>
              <a:t>Gather feedback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3: Production Rollout (2 weeks)</a:t>
            </a:r>
          </a:p>
          <a:p>
            <a:pPr lvl="0" indent="-342900" marL="342900">
              <a:buAutoNum type="arabicPeriod"/>
            </a:pPr>
            <a:r>
              <a:rPr/>
              <a:t>Deploy production applications</a:t>
            </a:r>
          </a:p>
          <a:p>
            <a:pPr lvl="0" indent="-342900" marL="342900">
              <a:buAutoNum type="arabicPeriod"/>
            </a:pPr>
            <a:r>
              <a:rPr/>
              <a:t>Migrate existing applications</a:t>
            </a:r>
          </a:p>
          <a:p>
            <a:pPr lvl="0" indent="-342900" marL="342900">
              <a:buAutoNum type="arabicPeriod"/>
            </a:pPr>
            <a:r>
              <a:rPr/>
              <a:t>Establish monitoring</a:t>
            </a:r>
          </a:p>
          <a:p>
            <a:pPr lvl="0" indent="-342900" marL="342900">
              <a:buAutoNum type="arabicPeriod"/>
            </a:pPr>
            <a:r>
              <a:rPr/>
              <a:t>Document processes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4: Scale &amp; Optimize (Ongoing)</a:t>
            </a:r>
          </a:p>
          <a:p>
            <a:pPr lvl="0" indent="-342900" marL="342900">
              <a:buAutoNum type="arabicPeriod"/>
            </a:pPr>
            <a:r>
              <a:rPr/>
              <a:t>Expand to all teams</a:t>
            </a:r>
          </a:p>
          <a:p>
            <a:pPr lvl="0" indent="-342900" marL="342900">
              <a:buAutoNum type="arabicPeriod"/>
            </a:pPr>
            <a:r>
              <a:rPr/>
              <a:t>Add custom templates</a:t>
            </a:r>
          </a:p>
          <a:p>
            <a:pPr lvl="0" indent="-342900" marL="342900">
              <a:buAutoNum type="arabicPeriod"/>
            </a:pPr>
            <a:r>
              <a:rPr/>
              <a:t>Integrate with existing tools</a:t>
            </a:r>
          </a:p>
          <a:p>
            <a:pPr lvl="0" indent="-342900" marL="342900">
              <a:buAutoNum type="arabicPeriod"/>
            </a:pPr>
            <a:r>
              <a:rPr/>
              <a:t>Continuous improvement</a:t>
            </a:r>
          </a:p>
          <a:p>
            <a:pPr lvl="0" indent="0" marL="0">
              <a:buNone/>
            </a:pPr>
            <a:r>
              <a:rPr b="1"/>
              <a:t>Total Time to Production:</a:t>
            </a:r>
            <a:r>
              <a:rPr/>
              <a:t> 4 weeks</a:t>
            </a:r>
            <a:br/>
            <a:r>
              <a:rPr b="1"/>
              <a:t>ROI Positive:</a:t>
            </a:r>
            <a:r>
              <a:rPr/>
              <a:t> Month 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Bob Skill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Simple, Powerful, Secure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One Command Deployment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Setup credentials (one time)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export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GITEA_USER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"developer"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export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GITEA_TOKEN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"your-token"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Deploy secure application</a:t>
            </a:r>
            <a:br/>
            <a:r>
              <a:rPr>
                <a:latin typeface="Courier"/>
              </a:rPr>
              <a:t>./bob-skill/deploy-secure-app.sh my-app python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Happens Automatically</a:t>
            </a:r>
          </a:p>
          <a:p>
            <a:pPr lvl="0" indent="0">
              <a:buNone/>
            </a:pPr>
            <a:r>
              <a:rPr>
                <a:latin typeface="Courier"/>
              </a:rPr>
              <a:t>✓ Repository created in Gitea
✓ Secure application generated
✓ CI/CD pipeline configured
✓ Code pushed to repository
✓ Pipeline triggered
✓ Secure image built
✓ Vulnerabilities scanned
✓ Deployed to Kubernetes
✓ Security verified
✓ Application running</a:t>
            </a:r>
          </a:p>
          <a:p>
            <a:pPr lvl="0" indent="0" marL="0">
              <a:buNone/>
            </a:pPr>
            <a:r>
              <a:rPr b="1"/>
              <a:t>Time:</a:t>
            </a:r>
            <a:r>
              <a:rPr/>
              <a:t> 3-5 minutes</a:t>
            </a:r>
            <a:br/>
            <a:r>
              <a:rPr b="1"/>
              <a:t>Commands:</a:t>
            </a:r>
            <a:r>
              <a:rPr/>
              <a:t> 1</a:t>
            </a:r>
            <a:br/>
            <a:r>
              <a:rPr b="1"/>
              <a:t>Security:</a:t>
            </a:r>
            <a:r>
              <a:rPr/>
              <a:t> Enterprise-grade</a:t>
            </a:r>
            <a:br/>
            <a:r>
              <a:rPr b="1"/>
              <a:t>Errors:</a:t>
            </a:r>
            <a:r>
              <a:rPr/>
              <a:t> Zero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Security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Automated Security Checks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Container Security Verification</a:t>
            </a:r>
          </a:p>
          <a:p>
            <a:pPr lvl="0" indent="0">
              <a:buNone/>
            </a:pPr>
            <a:r>
              <a:rPr>
                <a:latin typeface="Courier"/>
              </a:rPr>
              <a:t>✓ Non-root user (UID 1000)
✓ Read-only root filesystem
✓ Security updates installed
✓ Minimal attack surface
✓ No unnecessary packages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Kubernetes Security Verification</a:t>
            </a:r>
          </a:p>
          <a:p>
            <a:pPr lvl="0" indent="0">
              <a:buNone/>
            </a:pPr>
            <a:r>
              <a:rPr>
                <a:latin typeface="Courier"/>
              </a:rPr>
              <a:t>✓ Pod security contexts configured
✓ ALL capabilities dropped
✓ Network policies applied
✓ Resource limits set
✓ Service account dedicated
✓ Health probes configured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Pipeline Security Verification</a:t>
            </a:r>
          </a:p>
          <a:p>
            <a:pPr lvl="0" indent="0">
              <a:buNone/>
            </a:pPr>
            <a:r>
              <a:rPr>
                <a:latin typeface="Courier"/>
              </a:rPr>
              <a:t>✓ Vulnerability scan completed
✓ Security contexts validated
✓ Network policies verified
✓ Resource limits confirmed
✓ Audit trail generated</a:t>
            </a:r>
          </a:p>
          <a:p>
            <a:pPr lvl="0" indent="0" marL="0">
              <a:buNone/>
            </a:pPr>
            <a:r>
              <a:rPr b="1"/>
              <a:t>Security Score:</a:t>
            </a:r>
            <a:r>
              <a:rPr/>
              <a:t> 9/10 (Enterprise-Grade)</a:t>
            </a:r>
            <a:br/>
            <a:r>
              <a:rPr b="1"/>
              <a:t>Compliance:</a:t>
            </a:r>
            <a:r>
              <a:rPr/>
              <a:t> Automated</a:t>
            </a:r>
            <a:br/>
            <a:r>
              <a:rPr b="1"/>
              <a:t>Verification:</a:t>
            </a:r>
            <a:r>
              <a:rPr/>
              <a:t> Every deployment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IBM Bob?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vs Manual Deployment</a:t>
            </a:r>
          </a:p>
          <a:p>
            <a:pPr lvl="0"/>
            <a:r>
              <a:rPr b="1"/>
              <a:t>93% faster</a:t>
            </a:r>
            <a:r>
              <a:rPr/>
              <a:t> (3 min vs 75 min)</a:t>
            </a:r>
          </a:p>
          <a:p>
            <a:pPr lvl="0"/>
            <a:r>
              <a:rPr b="1"/>
              <a:t>100% consistent</a:t>
            </a:r>
            <a:r>
              <a:rPr/>
              <a:t> (zero human error)</a:t>
            </a:r>
          </a:p>
          <a:p>
            <a:pPr lvl="0"/>
            <a:r>
              <a:rPr b="1"/>
              <a:t>Enterprise security</a:t>
            </a:r>
            <a:r>
              <a:rPr/>
              <a:t> (vs basic)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vs CI/CD Tools (Jenkins, GitLab)</a:t>
            </a:r>
          </a:p>
          <a:p>
            <a:pPr lvl="0"/>
            <a:r>
              <a:rPr b="1"/>
              <a:t>Simpler</a:t>
            </a:r>
            <a:r>
              <a:rPr/>
              <a:t> (one command vs complex config)</a:t>
            </a:r>
          </a:p>
          <a:p>
            <a:pPr lvl="0"/>
            <a:r>
              <a:rPr b="1"/>
              <a:t>Faster</a:t>
            </a:r>
            <a:r>
              <a:rPr/>
              <a:t> (3 min vs 45 min setup)</a:t>
            </a:r>
          </a:p>
          <a:p>
            <a:pPr lvl="0"/>
            <a:r>
              <a:rPr b="1"/>
              <a:t>More secure</a:t>
            </a:r>
            <a:r>
              <a:rPr/>
              <a:t> (enterprise-grade by default)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vs Platform-as-a-Service (Heroku, Cloud Foundry)</a:t>
            </a:r>
          </a:p>
          <a:p>
            <a:pPr lvl="0"/>
            <a:r>
              <a:rPr b="1"/>
              <a:t>More control</a:t>
            </a:r>
            <a:r>
              <a:rPr/>
              <a:t> (full Kubernetes access)</a:t>
            </a:r>
          </a:p>
          <a:p>
            <a:pPr lvl="0"/>
            <a:r>
              <a:rPr b="1"/>
              <a:t>Lower cost</a:t>
            </a:r>
            <a:r>
              <a:rPr/>
              <a:t> (self-hosted)</a:t>
            </a:r>
          </a:p>
          <a:p>
            <a:pPr lvl="0"/>
            <a:r>
              <a:rPr b="1"/>
              <a:t>Better security</a:t>
            </a:r>
            <a:r>
              <a:rPr/>
              <a:t> (customizable)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vs Container Platforms (OpenShift, Rancher)</a:t>
            </a:r>
          </a:p>
          <a:p>
            <a:pPr lvl="0"/>
            <a:r>
              <a:rPr b="1"/>
              <a:t>Easier</a:t>
            </a:r>
            <a:r>
              <a:rPr/>
              <a:t> (no platform learning curve)</a:t>
            </a:r>
          </a:p>
          <a:p>
            <a:pPr lvl="0"/>
            <a:r>
              <a:rPr b="1"/>
              <a:t>Faster</a:t>
            </a:r>
            <a:r>
              <a:rPr/>
              <a:t> (instant deployment)</a:t>
            </a:r>
          </a:p>
          <a:p>
            <a:pPr lvl="0"/>
            <a:r>
              <a:rPr b="1"/>
              <a:t>Automated</a:t>
            </a:r>
            <a:r>
              <a:rPr/>
              <a:t> (zero configuration)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Unique Bob Advantages</a:t>
            </a:r>
          </a:p>
          <a:p>
            <a:pPr lvl="0"/>
            <a:r>
              <a:rPr/>
              <a:t>✅ AI-powered automation</a:t>
            </a:r>
          </a:p>
          <a:p>
            <a:pPr lvl="0"/>
            <a:r>
              <a:rPr/>
              <a:t>✅ Security-first approach</a:t>
            </a:r>
          </a:p>
          <a:p>
            <a:pPr lvl="0"/>
            <a:r>
              <a:rPr/>
              <a:t>✅ One-command deployment</a:t>
            </a:r>
          </a:p>
          <a:p>
            <a:pPr lvl="0"/>
            <a:r>
              <a:rPr/>
              <a:t>✅ Zero learning curve</a:t>
            </a:r>
          </a:p>
          <a:p>
            <a:pPr lvl="0"/>
            <a:r>
              <a:rPr/>
              <a:t>✅ Complete automation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Customer Testimonials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Customers Say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Development Team Lead</a:t>
            </a:r>
          </a:p>
          <a:p>
            <a:pPr lvl="0" indent="0" marL="1270000">
              <a:buNone/>
            </a:pPr>
            <a:r>
              <a:rPr sz="2000"/>
              <a:t>“Bob reduced our deployment time from 2 hours to 3 minutes. Our team can now deploy 10x more applications per sprint with better security than ever before.”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10x productivity increase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Officer</a:t>
            </a:r>
          </a:p>
          <a:p>
            <a:pPr lvl="0" indent="0" marL="1270000">
              <a:buNone/>
            </a:pPr>
            <a:r>
              <a:rPr sz="2000"/>
              <a:t>“With Bob, we achieved 100% compliance across all applications. The automated security verification gives us confidence that every deployment meets our standards.”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Zero security incidents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CTO</a:t>
            </a:r>
          </a:p>
          <a:p>
            <a:pPr lvl="0" indent="0" marL="1270000">
              <a:buNone/>
            </a:pPr>
            <a:r>
              <a:rPr sz="2000"/>
              <a:t>“Bob saved us $444,000 in the first year. The ROI was positive in month one, and developer satisfaction increased dramatically.”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$444K annual savings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DevOps Engineer</a:t>
            </a:r>
          </a:p>
          <a:p>
            <a:pPr lvl="0" indent="0" marL="1270000">
              <a:buNone/>
            </a:pPr>
            <a:r>
              <a:rPr sz="2000"/>
              <a:t>“I was skeptical at first, but Bob’s automation is incredible. What used to take me an hour now takes 3 minutes, and it’s more secure.”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95% time savings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19: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Continuous Innovation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Q2 2026</a:t>
            </a:r>
          </a:p>
          <a:p>
            <a:pPr lvl="0"/>
            <a:r>
              <a:rPr/>
              <a:t>✅ Node.js application templates</a:t>
            </a:r>
          </a:p>
          <a:p>
            <a:pPr lvl="0"/>
            <a:r>
              <a:rPr/>
              <a:t>✅ Go application templates</a:t>
            </a:r>
          </a:p>
          <a:p>
            <a:pPr lvl="0"/>
            <a:r>
              <a:rPr/>
              <a:t>✅ Multi-cloud support (AWS, Azure, GCP)</a:t>
            </a:r>
          </a:p>
          <a:p>
            <a:pPr lvl="0"/>
            <a:r>
              <a:rPr/>
              <a:t>✅ Advanced monitoring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Q3 2026</a:t>
            </a:r>
          </a:p>
          <a:p>
            <a:pPr lvl="0"/>
            <a:r>
              <a:rPr/>
              <a:t>✅ AI-powered security recommendations</a:t>
            </a:r>
          </a:p>
          <a:p>
            <a:pPr lvl="0"/>
            <a:r>
              <a:rPr/>
              <a:t>✅ Automated performance optimization</a:t>
            </a:r>
          </a:p>
          <a:p>
            <a:pPr lvl="0"/>
            <a:r>
              <a:rPr/>
              <a:t>✅ Self-healing deployments</a:t>
            </a:r>
          </a:p>
          <a:p>
            <a:pPr lvl="0"/>
            <a:r>
              <a:rPr/>
              <a:t>✅ Predictive scaling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Q4 2026</a:t>
            </a:r>
          </a:p>
          <a:p>
            <a:pPr lvl="0"/>
            <a:r>
              <a:rPr/>
              <a:t>✅ Multi-region deployments</a:t>
            </a:r>
          </a:p>
          <a:p>
            <a:pPr lvl="0"/>
            <a:r>
              <a:rPr/>
              <a:t>✅ Advanced compliance reporting</a:t>
            </a:r>
          </a:p>
          <a:p>
            <a:pPr lvl="0"/>
            <a:r>
              <a:rPr/>
              <a:t>✅ Integration with enterprise tools</a:t>
            </a:r>
          </a:p>
          <a:p>
            <a:pPr lvl="0"/>
            <a:r>
              <a:rPr/>
              <a:t>✅ Custom template builder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2027 and Beyond</a:t>
            </a:r>
          </a:p>
          <a:p>
            <a:pPr lvl="0"/>
            <a:r>
              <a:rPr/>
              <a:t>✅ Autonomous application management</a:t>
            </a:r>
          </a:p>
          <a:p>
            <a:pPr lvl="0"/>
            <a:r>
              <a:rPr/>
              <a:t>✅ AI-driven architecture recommendations</a:t>
            </a:r>
          </a:p>
          <a:p>
            <a:pPr lvl="0"/>
            <a:r>
              <a:rPr/>
              <a:t>✅ Zero-touch operations</a:t>
            </a:r>
          </a:p>
          <a:p>
            <a:pPr lvl="0"/>
            <a:r>
              <a:rPr/>
              <a:t>✅ Continuous security evolution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Start Your Bob Journey Today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 Started in 3 Steps</a:t>
            </a:r>
          </a:p>
          <a:p>
            <a:pPr lvl="0" indent="0" marL="0">
              <a:buNone/>
            </a:pPr>
            <a:r>
              <a:rPr b="1"/>
              <a:t>1. Setup Infrastructure</a:t>
            </a:r>
            <a:r>
              <a:rPr/>
              <a:t> (1 day)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Install on almabuild and almak3s</a:t>
            </a:r>
            <a:br/>
            <a:r>
              <a:rPr>
                <a:latin typeface="Courier"/>
              </a:rPr>
              <a:t>./vm-setup/install-gitea-almalinux.sh</a:t>
            </a:r>
            <a:br/>
            <a:r>
              <a:rPr>
                <a:latin typeface="Courier"/>
              </a:rPr>
              <a:t>./k8s-setup/install-k3s-almalinux.sh</a:t>
            </a:r>
          </a:p>
          <a:p>
            <a:pPr lvl="0" indent="0" marL="0">
              <a:buNone/>
            </a:pPr>
            <a:r>
              <a:rPr b="1"/>
              <a:t>2. Configure Bob Skill</a:t>
            </a:r>
            <a:r>
              <a:rPr/>
              <a:t> (5 minutes)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export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GITEA_USER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"your-username"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export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GITEA_TOKEN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"your-token"</a:t>
            </a:r>
          </a:p>
          <a:p>
            <a:pPr lvl="0" indent="0" marL="0">
              <a:buNone/>
            </a:pPr>
            <a:r>
              <a:rPr b="1"/>
              <a:t>3. Deploy Your First App</a:t>
            </a:r>
            <a:r>
              <a:rPr/>
              <a:t> (3 minutes)</a:t>
            </a:r>
          </a:p>
          <a:p>
            <a:pPr lvl="0" indent="0">
              <a:buNone/>
            </a:pPr>
            <a:r>
              <a:rPr>
                <a:latin typeface="Courier"/>
              </a:rPr>
              <a:t>./bob-skill/deploy-secure-app.sh my-app python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Resources</a:t>
            </a:r>
          </a:p>
          <a:p>
            <a:pPr lvl="0"/>
            <a:r>
              <a:rPr/>
              <a:t>📚 Complete Documentation: </a:t>
            </a:r>
            <a:r>
              <a:rPr>
                <a:latin typeface="Courier"/>
              </a:rPr>
              <a:t>/docs</a:t>
            </a:r>
          </a:p>
          <a:p>
            <a:pPr lvl="0"/>
            <a:r>
              <a:rPr/>
              <a:t>🎓 Training Materials: </a:t>
            </a:r>
            <a:r>
              <a:rPr>
                <a:latin typeface="Courier"/>
              </a:rPr>
              <a:t>/bob-skill/SKILL.md</a:t>
            </a:r>
          </a:p>
          <a:p>
            <a:pPr lvl="0"/>
            <a:r>
              <a:rPr/>
              <a:t>💬 Support: IBM Bob AI Team</a:t>
            </a:r>
          </a:p>
          <a:p>
            <a:pPr lvl="0"/>
            <a:r>
              <a:rPr/>
              <a:t>🌐 Repository: </a:t>
            </a:r>
            <a:r>
              <a:rPr>
                <a:latin typeface="Courier"/>
              </a:rPr>
              <a:t>dev-infrastructure-setup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Contact Us</a:t>
            </a:r>
          </a:p>
          <a:p>
            <a:pPr lvl="0" indent="0" marL="0">
              <a:buNone/>
            </a:pPr>
            <a:r>
              <a:rPr b="1"/>
              <a:t>Ready to transform your development workflow?</a:t>
            </a:r>
            <a:br/>
            <a:r>
              <a:rPr/>
              <a:t>Contact IBM Bob AI Team for a demo and pilot program.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IBM Bob: The Future of Secure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Takeaways</a:t>
            </a:r>
          </a:p>
          <a:p>
            <a:pPr lvl="0" indent="0" marL="0">
              <a:buNone/>
            </a:pPr>
            <a:r>
              <a:rPr b="1"/>
              <a:t>🚀 Speed</a:t>
            </a:r>
            <a:r>
              <a:rPr/>
              <a:t> - 93% faster deployments (75 min → 3 min) - Zero manual steps - Instant productivity</a:t>
            </a:r>
          </a:p>
          <a:p>
            <a:pPr lvl="0" indent="0" marL="0">
              <a:buNone/>
            </a:pPr>
            <a:r>
              <a:rPr b="1"/>
              <a:t>🔒 Security</a:t>
            </a:r>
            <a:r>
              <a:rPr/>
              <a:t> - Enterprise-grade by default - Automated verification - 100% compliance</a:t>
            </a:r>
          </a:p>
          <a:p>
            <a:pPr lvl="0" indent="0" marL="0">
              <a:buNone/>
            </a:pPr>
            <a:r>
              <a:rPr b="1"/>
              <a:t>💰 Cost</a:t>
            </a:r>
            <a:r>
              <a:rPr/>
              <a:t> - $444K annual savings (200 deployments/month) - 99% cost reduction per deployment - 23 FTE productivity gain</a:t>
            </a:r>
          </a:p>
          <a:p>
            <a:pPr lvl="0" indent="0" marL="0">
              <a:buNone/>
            </a:pPr>
            <a:r>
              <a:rPr b="1"/>
              <a:t>✅ Quality</a:t>
            </a:r>
            <a:r>
              <a:rPr/>
              <a:t> - Zero human errors - 100% consistency - Automated testing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Transform Your Development Today</a:t>
            </a:r>
          </a:p>
          <a:p>
            <a:pPr lvl="0" indent="0" marL="0">
              <a:buNone/>
            </a:pPr>
            <a:r>
              <a:rPr b="1"/>
              <a:t>One Command. Complete Security. Instant Deployment.</a:t>
            </a:r>
          </a:p>
          <a:p>
            <a:pPr lvl="0" indent="0">
              <a:buNone/>
            </a:pPr>
            <a:r>
              <a:rPr>
                <a:latin typeface="Courier"/>
              </a:rPr>
              <a:t>./bob-skill/deploy-secure-app.sh my-app python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 b="1"/>
              <a:t>IBM Bob AI</a:t>
            </a:r>
            <a:br/>
            <a:r>
              <a:rPr/>
              <a:t>Secure Application Development at Scale</a:t>
            </a:r>
          </a:p>
          <a:p>
            <a:pPr lvl="0" indent="0" marL="0">
              <a:buNone/>
            </a:pPr>
            <a:r>
              <a:rPr/>
              <a:t>📧 Contact: IBM Bob AI Team</a:t>
            </a:r>
            <a:br/>
            <a:r>
              <a:rPr/>
              <a:t>📚 Documentation: </a:t>
            </a:r>
            <a:r>
              <a:rPr>
                <a:latin typeface="Courier"/>
              </a:rPr>
              <a:t>/docs</a:t>
            </a:r>
            <a:br/>
            <a:r>
              <a:rPr/>
              <a:t>🌐 Repository: </a:t>
            </a:r>
            <a:r>
              <a:rPr>
                <a:latin typeface="Courier"/>
              </a:rPr>
              <a:t>dev-infrastructure-setup</a:t>
            </a:r>
          </a:p>
          <a:p>
            <a:pPr lvl="0" indent="0" marL="0">
              <a:buNone/>
            </a:pPr>
            <a:r>
              <a:rPr b="1"/>
              <a:t>Let’s build secure applications together!</a:t>
            </a:r>
            <a:r>
              <a:rPr/>
              <a:t> 🚀🔒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Bob: Secure Application Development at Scale</dc:title>
  <dc:creator>IBM Bob AI</dc:creator>
  <cp:keywords/>
  <dcterms:created xsi:type="dcterms:W3CDTF">2026-03-29T14:16:47Z</dcterms:created>
  <dcterms:modified xsi:type="dcterms:W3CDTF">2026-03-29T14:16:47Z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2026</vt:lpwstr>
  </property>
  <property fmtid="{D5CDD505-2E9C-101B-9397-08002B2CF9AE}" pid="3" name="subtitle">
    <vt:lpwstr>Automated Security, Accelerated Delivery</vt:lpwstr>
  </property>
</Properties>
</file>